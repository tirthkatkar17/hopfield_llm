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63" r:id="rId4"/>
    <p:sldId id="266" r:id="rId5"/>
    <p:sldId id="269" r:id="rId6"/>
    <p:sldId id="268" r:id="rId7"/>
    <p:sldId id="265" r:id="rId8"/>
    <p:sldId id="276" r:id="rId9"/>
    <p:sldId id="270" r:id="rId10"/>
    <p:sldId id="277" r:id="rId11"/>
    <p:sldId id="275" r:id="rId12"/>
    <p:sldId id="273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>
        <p:scale>
          <a:sx n="75" d="100"/>
          <a:sy n="75" d="100"/>
        </p:scale>
        <p:origin x="811" y="3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5FE6-EFBF-464B-8BCE-2F825F1EA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709C10-989A-4334-A22C-5436F9351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5A11E-F8B3-4BA3-AA0C-6EAE940B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1009-9286-48D3-8847-9629DB23A6ED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6F58A-991A-4768-80D3-D25049208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C23B9-7CB1-4DFE-A375-9B88AF90F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F1198-7549-469D-BEE5-0CCE558C7F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01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50B55-3357-4035-B2C9-539D1FEED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FB5C3-D9FA-455C-8D38-6895BE02A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790A1-C13C-4D90-8669-512712EE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1009-9286-48D3-8847-9629DB23A6ED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4182C-849B-438A-BAE1-3775522D9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68AA4-2105-4D8A-8F7D-DEE845F2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F1198-7549-469D-BEE5-0CCE558C7F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321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317AD-FDEA-4A24-A5C8-6717A3EEF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5A00E-86FD-4251-8E41-D331BD10A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0FC72-E124-44A7-94F3-433A227AB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1009-9286-48D3-8847-9629DB23A6ED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EAA54-FBC7-455C-A800-4F3CAAFBF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BADF1-C890-434E-B119-6763804F6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F1198-7549-469D-BEE5-0CCE558C7F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09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42068-9AC0-45D3-B6ED-6F5D877EB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BC495-6224-4EC0-A4F6-59A6A09F72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848C35-FEEF-4BD9-9136-B7A722068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13C1D-73F6-4195-9A75-614E6161B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1009-9286-48D3-8847-9629DB23A6ED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954F5-9FE7-47FA-9897-894508CA4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EF926-F482-41F8-8F66-E6EB5792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F1198-7549-469D-BEE5-0CCE558C7F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77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C45D7-D30F-4F0A-9796-AA52E036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76D9B-39C5-4614-8EB2-05181F478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A4D7E-A839-4A6D-978C-FFB1FA0C2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F5713-3ACD-40BF-BCF2-1115B4BEA6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79B098-6FFB-49CC-B8A2-B538704BBB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93533A-829E-4374-BD38-7B8DB0568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1009-9286-48D3-8847-9629DB23A6ED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3FD5C2-5763-47EE-A9F9-0EF0D3C07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3DED6A-318A-4A04-ADC3-99ADF799C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F1198-7549-469D-BEE5-0CCE558C7F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677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7A0C1-F62F-4635-BD2A-B752173EF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3E5913-B6DF-4EF6-82F6-82A3FE839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1009-9286-48D3-8847-9629DB23A6ED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4F3E4-3AF3-46AA-9808-28D786584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1C0FE-5F6D-440C-80CC-DA90E620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F1198-7549-469D-BEE5-0CCE558C7F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49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D8C95-6B88-43A2-BB15-412241509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1009-9286-48D3-8847-9629DB23A6ED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9446B-6212-4353-BD34-F625F5D93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CBB58-8734-4589-9873-DE659560C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F1198-7549-469D-BEE5-0CCE558C7F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57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A29D8-B8C7-4A59-9766-A31E1C4BC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C978A-B682-47B0-98EB-6528FA6D4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C61DD-ED62-4DC7-9DB9-658755BEB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2FDAB-A37F-40D1-A8AC-63BFF36CB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1009-9286-48D3-8847-9629DB23A6ED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3FDAE-3BDB-4C05-B33C-44E5EB64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0EE2A-DAF8-4F3E-BD65-30E8C083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F1198-7549-469D-BEE5-0CCE558C7F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58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80D9A-BAE5-48AB-9D82-C410846AF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B86017-2854-4A46-8310-B81E7B7733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BD1169-645F-477A-958A-76C716C36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93986-F42F-499C-ACB3-778F64F45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1009-9286-48D3-8847-9629DB23A6ED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B49CF-4F99-49B5-9D89-46D6AA881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85E98-F0BF-492C-96C0-D50107408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F1198-7549-469D-BEE5-0CCE558C7F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83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BE1D-E136-4D66-87E2-372937C32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694C9-5998-4A9A-9F18-E898C5C65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BFD2D-0011-4C1A-8299-E6C645376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1009-9286-48D3-8847-9629DB23A6ED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963B3-8780-415F-8DF8-3DBAB8F7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9A025-2CF7-4CE2-A17D-CD99FEE6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F1198-7549-469D-BEE5-0CCE558C7F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32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1E5C3A-0E27-4EC1-8A77-7635AC4F7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44C86-8BC6-40A6-B93A-4AF82BF04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FA96D-F66A-4B7A-88DD-3FDDBE2E8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F1009-9286-48D3-8847-9629DB23A6ED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0007E-4F96-41E8-98F2-F0F895E72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F07EC-60DE-4F79-9C8C-AE3AE425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F1198-7549-469D-BEE5-0CCE558C7F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17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94C347-C4C1-454A-AC3E-F1885D9F9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855AD-66CF-4738-8E88-202922E42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56D4F-CD0A-477C-86D6-84DF88FA3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F1009-9286-48D3-8847-9629DB23A6ED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CE0AC-E4AB-41E2-AB67-13C61D522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745D9-C487-434F-B7F5-B54D97234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F1198-7549-469D-BEE5-0CCE558C7F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05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9CAEE-7EAC-4EC5-BCBF-97365B5E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2" y="206619"/>
            <a:ext cx="2630562" cy="1270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C05E0-0EA0-4F40-A8CD-48B9A80F0EA7}"/>
              </a:ext>
            </a:extLst>
          </p:cNvPr>
          <p:cNvSpPr txBox="1"/>
          <p:nvPr/>
        </p:nvSpPr>
        <p:spPr>
          <a:xfrm>
            <a:off x="2880045" y="492369"/>
            <a:ext cx="90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Kolhapur Institute of Technology’s College of Engineering       (Empowered Autonomous)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7E33F-0771-4B29-9D52-6EEFB401E104}"/>
              </a:ext>
            </a:extLst>
          </p:cNvPr>
          <p:cNvSpPr txBox="1"/>
          <p:nvPr/>
        </p:nvSpPr>
        <p:spPr>
          <a:xfrm>
            <a:off x="379562" y="2448205"/>
            <a:ext cx="11301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Project Presentation on :-  “</a:t>
            </a:r>
            <a:r>
              <a:rPr lang="en-US" sz="2400" dirty="0"/>
              <a:t>Associative Memory Retriever: Scaling Long-Context QA with Modern Hopfield Networks.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24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3A84D9E-7FF1-4756-95B8-F77B74CD89C3}"/>
              </a:ext>
            </a:extLst>
          </p:cNvPr>
          <p:cNvSpPr txBox="1">
            <a:spLocks/>
          </p:cNvSpPr>
          <p:nvPr/>
        </p:nvSpPr>
        <p:spPr>
          <a:xfrm>
            <a:off x="457200" y="3911600"/>
            <a:ext cx="10748682" cy="2345954"/>
          </a:xfrm>
          <a:prstGeom prst="rect">
            <a:avLst/>
          </a:prstGeom>
        </p:spPr>
        <p:txBody>
          <a:bodyPr numCol="1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Presented By:					Under Guidance of: 	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Tirth </a:t>
            </a:r>
            <a:r>
              <a:rPr lang="en-US" sz="20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Katkar</a:t>
            </a: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DS-25                                                  Prof. Karishma Tamboli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Pratham Kadam   DS-14                                                       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Niranjan Ambi      DS-01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Shreya </a:t>
            </a:r>
            <a:r>
              <a:rPr lang="en-IN" sz="2000" b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Gunjakar</a:t>
            </a: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DS-61</a:t>
            </a:r>
            <a:endParaRPr lang="en-US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Aharoni" pitchFamily="2" charset="-79"/>
              </a:rPr>
              <a:t>		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Aharoni" pitchFamily="2" charset="-79"/>
            </a:endParaRPr>
          </a:p>
          <a:p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ea typeface="+mj-ea"/>
              <a:cs typeface="Aharoni" pitchFamily="2" charset="-79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B88BD-6992-42E2-8D9A-DC9FF806DF75}"/>
              </a:ext>
            </a:extLst>
          </p:cNvPr>
          <p:cNvSpPr txBox="1"/>
          <p:nvPr/>
        </p:nvSpPr>
        <p:spPr>
          <a:xfrm>
            <a:off x="2259106" y="6355981"/>
            <a:ext cx="69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 of Computer Science and Engineering(AIML/DS)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918CC-9798-4DBA-BBBF-98F50E9D0E9A}"/>
              </a:ext>
            </a:extLst>
          </p:cNvPr>
          <p:cNvSpPr/>
          <p:nvPr/>
        </p:nvSpPr>
        <p:spPr>
          <a:xfrm>
            <a:off x="11116235" y="6167718"/>
            <a:ext cx="564777" cy="3944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139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9CAEE-7EAC-4EC5-BCBF-97365B5E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2" y="206619"/>
            <a:ext cx="2630562" cy="1270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C05E0-0EA0-4F40-A8CD-48B9A80F0EA7}"/>
              </a:ext>
            </a:extLst>
          </p:cNvPr>
          <p:cNvSpPr txBox="1"/>
          <p:nvPr/>
        </p:nvSpPr>
        <p:spPr>
          <a:xfrm>
            <a:off x="3129526" y="525620"/>
            <a:ext cx="9062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7E33F-0771-4B29-9D52-6EEFB401E104}"/>
              </a:ext>
            </a:extLst>
          </p:cNvPr>
          <p:cNvSpPr txBox="1"/>
          <p:nvPr/>
        </p:nvSpPr>
        <p:spPr>
          <a:xfrm>
            <a:off x="766496" y="1643403"/>
            <a:ext cx="10490662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The "Lost in the Middle" Phenomenon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Transformers struggle with massive text contexts, often ignoring facts hidden in the middle of long documents due to self-attention limitations.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Brittle Retrieval in Standard RAG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Retrieval-Augmented Generation (RAG) relies on simple vector similarity (Cosine Similarity), which is often too rigid to handle complex or noisy natural language queries.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Inefficient Scaling of Context Windows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the context window in standard models increases computational costs quadratically, making long-form Question Answering (QA) expensive and slow.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B88BD-6992-42E2-8D9A-DC9FF806DF75}"/>
              </a:ext>
            </a:extLst>
          </p:cNvPr>
          <p:cNvSpPr txBox="1"/>
          <p:nvPr/>
        </p:nvSpPr>
        <p:spPr>
          <a:xfrm>
            <a:off x="2259106" y="6355981"/>
            <a:ext cx="69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 of Computer Science and Engineering(AIML/DS)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918CC-9798-4DBA-BBBF-98F50E9D0E9A}"/>
              </a:ext>
            </a:extLst>
          </p:cNvPr>
          <p:cNvSpPr/>
          <p:nvPr/>
        </p:nvSpPr>
        <p:spPr>
          <a:xfrm>
            <a:off x="11116235" y="6167718"/>
            <a:ext cx="564777" cy="3944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80139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9CAEE-7EAC-4EC5-BCBF-97365B5E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2" y="206619"/>
            <a:ext cx="2630562" cy="1270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C05E0-0EA0-4F40-A8CD-48B9A80F0EA7}"/>
              </a:ext>
            </a:extLst>
          </p:cNvPr>
          <p:cNvSpPr txBox="1"/>
          <p:nvPr/>
        </p:nvSpPr>
        <p:spPr>
          <a:xfrm>
            <a:off x="2880045" y="492369"/>
            <a:ext cx="906247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kern="0" dirty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  <a:sym typeface="Fjalla One"/>
              </a:rPr>
              <a:t>Objectives</a:t>
            </a:r>
            <a:r>
              <a:rPr lang="en-IN" sz="3500" b="1" kern="0" dirty="0">
                <a:solidFill>
                  <a:srgbClr val="191919"/>
                </a:solidFill>
                <a:latin typeface="Fjalla One"/>
                <a:sym typeface="Fjalla One"/>
              </a:rPr>
              <a:t> </a:t>
            </a:r>
            <a:endParaRPr 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7E33F-0771-4B29-9D52-6EEFB401E104}"/>
              </a:ext>
            </a:extLst>
          </p:cNvPr>
          <p:cNvSpPr txBox="1"/>
          <p:nvPr/>
        </p:nvSpPr>
        <p:spPr>
          <a:xfrm>
            <a:off x="457200" y="1477107"/>
            <a:ext cx="106070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Implement Modern Hopfield Networks (MHNs)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continuous associative memory layer based on the state-of-the-art Ramsauer et al. (2020) framework.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Energy-Based Factual Retrieval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beyond "lookups" to "associative recall," where a query settles into a factual energy basin to retrieve the most coherent context.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Robustness to Query Noise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the system can "repair" imperfect or partial user queries using the stored pattern completion capabilities of Hopfield layers.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Scalable Memory Architecture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retriever that can handle massive text corpora (like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SQuAD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LongBench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exponential storage capacity.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3A84D9E-7FF1-4756-95B8-F77B74CD89C3}"/>
              </a:ext>
            </a:extLst>
          </p:cNvPr>
          <p:cNvSpPr txBox="1">
            <a:spLocks/>
          </p:cNvSpPr>
          <p:nvPr/>
        </p:nvSpPr>
        <p:spPr>
          <a:xfrm>
            <a:off x="457200" y="3911600"/>
            <a:ext cx="10748682" cy="2345954"/>
          </a:xfrm>
          <a:prstGeom prst="rect">
            <a:avLst/>
          </a:prstGeom>
        </p:spPr>
        <p:txBody>
          <a:bodyPr numCol="1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ea typeface="+mj-ea"/>
              <a:cs typeface="Aharoni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B88BD-6992-42E2-8D9A-DC9FF806DF75}"/>
              </a:ext>
            </a:extLst>
          </p:cNvPr>
          <p:cNvSpPr txBox="1"/>
          <p:nvPr/>
        </p:nvSpPr>
        <p:spPr>
          <a:xfrm>
            <a:off x="2259106" y="6355981"/>
            <a:ext cx="69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 of Computer Science and Engineering(AIML/DS)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918CC-9798-4DBA-BBBF-98F50E9D0E9A}"/>
              </a:ext>
            </a:extLst>
          </p:cNvPr>
          <p:cNvSpPr/>
          <p:nvPr/>
        </p:nvSpPr>
        <p:spPr>
          <a:xfrm>
            <a:off x="11116235" y="6167718"/>
            <a:ext cx="564777" cy="3944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80139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9CAEE-7EAC-4EC5-BCBF-97365B5E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2" y="206619"/>
            <a:ext cx="2630562" cy="1270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C05E0-0EA0-4F40-A8CD-48B9A80F0EA7}"/>
              </a:ext>
            </a:extLst>
          </p:cNvPr>
          <p:cNvSpPr txBox="1"/>
          <p:nvPr/>
        </p:nvSpPr>
        <p:spPr>
          <a:xfrm>
            <a:off x="2880045" y="492369"/>
            <a:ext cx="906247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kern="0" dirty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  <a:sym typeface="Fjalla One"/>
              </a:rPr>
              <a:t>Literature Review</a:t>
            </a:r>
            <a:r>
              <a:rPr lang="en-IN" sz="3500" b="1" kern="0" dirty="0">
                <a:solidFill>
                  <a:srgbClr val="191919"/>
                </a:solidFill>
                <a:latin typeface="Fjalla One"/>
                <a:sym typeface="Fjalla One"/>
              </a:rPr>
              <a:t> </a:t>
            </a:r>
            <a:endParaRPr 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3A84D9E-7FF1-4756-95B8-F77B74CD89C3}"/>
              </a:ext>
            </a:extLst>
          </p:cNvPr>
          <p:cNvSpPr txBox="1">
            <a:spLocks/>
          </p:cNvSpPr>
          <p:nvPr/>
        </p:nvSpPr>
        <p:spPr>
          <a:xfrm>
            <a:off x="482138" y="3911600"/>
            <a:ext cx="10748682" cy="2345954"/>
          </a:xfrm>
          <a:prstGeom prst="rect">
            <a:avLst/>
          </a:prstGeom>
        </p:spPr>
        <p:txBody>
          <a:bodyPr numCol="1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ea typeface="+mj-ea"/>
              <a:cs typeface="Aharoni" pitchFamily="2" charset="-79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B88BD-6992-42E2-8D9A-DC9FF806DF75}"/>
              </a:ext>
            </a:extLst>
          </p:cNvPr>
          <p:cNvSpPr txBox="1"/>
          <p:nvPr/>
        </p:nvSpPr>
        <p:spPr>
          <a:xfrm>
            <a:off x="2259106" y="6355981"/>
            <a:ext cx="69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 of Computer Science and Engineering(AIML/DS)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918CC-9798-4DBA-BBBF-98F50E9D0E9A}"/>
              </a:ext>
            </a:extLst>
          </p:cNvPr>
          <p:cNvSpPr/>
          <p:nvPr/>
        </p:nvSpPr>
        <p:spPr>
          <a:xfrm>
            <a:off x="11116235" y="6167718"/>
            <a:ext cx="564777" cy="3944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graphicFrame>
        <p:nvGraphicFramePr>
          <p:cNvPr id="11" name="Google Shape;509;p44">
            <a:extLst>
              <a:ext uri="{FF2B5EF4-FFF2-40B4-BE49-F238E27FC236}">
                <a16:creationId xmlns:a16="http://schemas.microsoft.com/office/drawing/2014/main" id="{F64E2328-6C39-B08D-F900-487310E1A4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157000"/>
              </p:ext>
            </p:extLst>
          </p:nvPr>
        </p:nvGraphicFramePr>
        <p:xfrm>
          <a:off x="1130531" y="1392693"/>
          <a:ext cx="9451571" cy="476703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58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1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13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5081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Hopfield Networks is All You Need</a:t>
                      </a:r>
                      <a:endParaRPr sz="2000" b="1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Old Standard T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Old Standard TT"/>
                        </a:rPr>
                        <a:t>LITERATURE REVIEW</a:t>
                      </a:r>
                      <a:endParaRPr sz="2200" b="1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Old Standard T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82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Old Standard TT"/>
                        </a:rPr>
                        <a:t>AUTHORS</a:t>
                      </a:r>
                      <a:endParaRPr sz="2200" b="1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Old Standard T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Old Standard TT"/>
                        </a:rPr>
                        <a:t>METHODOLOGY</a:t>
                      </a:r>
                      <a:r>
                        <a:rPr lang="en" sz="2000" b="1" dirty="0">
                          <a:solidFill>
                            <a:schemeClr val="dk1"/>
                          </a:solidFill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 </a:t>
                      </a:r>
                      <a:endParaRPr sz="2000" b="1" dirty="0">
                        <a:solidFill>
                          <a:schemeClr val="dk1"/>
                        </a:solidFill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/>
                        <a:t>Findings:</a:t>
                      </a:r>
                      <a:r>
                        <a:rPr lang="en-US" sz="1800" dirty="0"/>
                        <a:t> Proved that Modern Hopfield Networks have exponential storage capacity and are mathematically equivalent to the Transformer attention mechanism, providing a bridge between associative memory and deep learning.</a:t>
                      </a:r>
                      <a:endParaRPr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Didact Gothic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133"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idact Gothic"/>
                        <a:buChar char="●"/>
                      </a:pPr>
                      <a:r>
                        <a:rPr lang="en-IN" sz="1400" dirty="0"/>
                        <a:t>Hubert Ramsauer, et al.</a:t>
                      </a:r>
                      <a:endParaRPr lang="en-IN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/>
                        <a:t>Methodology:</a:t>
                      </a:r>
                      <a:r>
                        <a:rPr lang="en-US" sz="1600" dirty="0"/>
                        <a:t> Redefined the energy function of Hopfield Networks using the Log-Sum-Exp rule. </a:t>
                      </a:r>
                      <a:endParaRPr sz="1600" b="1" dirty="0">
                        <a:solidFill>
                          <a:schemeClr val="dk1"/>
                        </a:solidFill>
                        <a:latin typeface="Didact Gothic" panose="00000500000000000000" pitchFamily="2" charset="0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0139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9CAEE-7EAC-4EC5-BCBF-97365B5E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2" y="206619"/>
            <a:ext cx="2630562" cy="1270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C05E0-0EA0-4F40-A8CD-48B9A80F0EA7}"/>
              </a:ext>
            </a:extLst>
          </p:cNvPr>
          <p:cNvSpPr txBox="1"/>
          <p:nvPr/>
        </p:nvSpPr>
        <p:spPr>
          <a:xfrm>
            <a:off x="2880045" y="492369"/>
            <a:ext cx="906247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kern="0" dirty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  <a:sym typeface="Fjalla One"/>
              </a:rPr>
              <a:t>Literature Review</a:t>
            </a:r>
            <a:r>
              <a:rPr lang="en-IN" sz="3500" b="1" kern="0" dirty="0">
                <a:solidFill>
                  <a:srgbClr val="191919"/>
                </a:solidFill>
                <a:latin typeface="Fjalla One"/>
                <a:sym typeface="Fjalla One"/>
              </a:rPr>
              <a:t> </a:t>
            </a:r>
            <a:endParaRPr 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3A84D9E-7FF1-4756-95B8-F77B74CD89C3}"/>
              </a:ext>
            </a:extLst>
          </p:cNvPr>
          <p:cNvSpPr txBox="1">
            <a:spLocks/>
          </p:cNvSpPr>
          <p:nvPr/>
        </p:nvSpPr>
        <p:spPr>
          <a:xfrm>
            <a:off x="457200" y="3911600"/>
            <a:ext cx="10748682" cy="2345954"/>
          </a:xfrm>
          <a:prstGeom prst="rect">
            <a:avLst/>
          </a:prstGeom>
        </p:spPr>
        <p:txBody>
          <a:bodyPr numCol="1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ea typeface="+mj-ea"/>
              <a:cs typeface="Aharoni" pitchFamily="2" charset="-79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B88BD-6992-42E2-8D9A-DC9FF806DF75}"/>
              </a:ext>
            </a:extLst>
          </p:cNvPr>
          <p:cNvSpPr txBox="1"/>
          <p:nvPr/>
        </p:nvSpPr>
        <p:spPr>
          <a:xfrm>
            <a:off x="2259106" y="6355981"/>
            <a:ext cx="69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 of Computer Science and Engineering(AIML/DS)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918CC-9798-4DBA-BBBF-98F50E9D0E9A}"/>
              </a:ext>
            </a:extLst>
          </p:cNvPr>
          <p:cNvSpPr/>
          <p:nvPr/>
        </p:nvSpPr>
        <p:spPr>
          <a:xfrm>
            <a:off x="11116235" y="6167718"/>
            <a:ext cx="564777" cy="3944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graphicFrame>
        <p:nvGraphicFramePr>
          <p:cNvPr id="9" name="Google Shape;509;p44">
            <a:extLst>
              <a:ext uri="{FF2B5EF4-FFF2-40B4-BE49-F238E27FC236}">
                <a16:creationId xmlns:a16="http://schemas.microsoft.com/office/drawing/2014/main" id="{EC259F86-05ED-9C9F-574A-2AC7E14F74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1158176"/>
              </p:ext>
            </p:extLst>
          </p:nvPr>
        </p:nvGraphicFramePr>
        <p:xfrm>
          <a:off x="1321724" y="1442569"/>
          <a:ext cx="8861367" cy="476703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86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8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6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0008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Dense Associative Memory for Pattern Recognition</a:t>
                      </a:r>
                      <a:endParaRPr sz="2000" b="1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Old Standard T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Old Standard TT"/>
                        </a:rPr>
                        <a:t>LITERATURE REVIEW</a:t>
                      </a:r>
                      <a:endParaRPr sz="2200" b="1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Old Standard T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1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Old Standard TT"/>
                        </a:rPr>
                        <a:t>AUTHORS</a:t>
                      </a:r>
                      <a:endParaRPr sz="2200" b="1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Old Standard T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Old Standard TT"/>
                        </a:rPr>
                        <a:t>METHODOLOGY</a:t>
                      </a:r>
                      <a:r>
                        <a:rPr lang="en" sz="2000" b="1" dirty="0">
                          <a:solidFill>
                            <a:schemeClr val="dk1"/>
                          </a:solidFill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 </a:t>
                      </a:r>
                      <a:endParaRPr sz="2000" b="1" dirty="0">
                        <a:solidFill>
                          <a:schemeClr val="dk1"/>
                        </a:solidFill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/>
                        <a:t>Findings:</a:t>
                      </a:r>
                      <a:r>
                        <a:rPr lang="en-US" sz="1800" dirty="0"/>
                        <a:t> Demonstrated that increasing the nonlinearity of the energy function allows the network to store and retrieve a much higher number of patterns (power-law or exponential) compared to the linear capacity of classic models</a:t>
                      </a:r>
                      <a:endParaRPr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Didact Gothic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042"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idact Gothic"/>
                        <a:buChar char="●"/>
                      </a:pPr>
                      <a:r>
                        <a:rPr lang="en-US" sz="1400" dirty="0"/>
                        <a:t>Dmitry </a:t>
                      </a:r>
                      <a:r>
                        <a:rPr lang="en-US" sz="1400" dirty="0" err="1"/>
                        <a:t>Krotov</a:t>
                      </a:r>
                      <a:r>
                        <a:rPr lang="en-US" sz="1400" dirty="0"/>
                        <a:t>,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idact Gothic"/>
                        <a:buChar char="●"/>
                      </a:pPr>
                      <a:r>
                        <a:rPr lang="en-US" sz="1400" dirty="0"/>
                        <a:t> John J. Hopfield</a:t>
                      </a:r>
                      <a:endParaRPr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Didact Gothic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Proposed an alternative to traditional Hopfield networks using power-law interaction functions..</a:t>
                      </a:r>
                      <a:endParaRPr sz="1600" b="1" dirty="0">
                        <a:solidFill>
                          <a:schemeClr val="dk1"/>
                        </a:solidFill>
                        <a:latin typeface="Didact Gothic" panose="00000500000000000000" pitchFamily="2" charset="0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0139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9CAEE-7EAC-4EC5-BCBF-97365B5E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2" y="206619"/>
            <a:ext cx="2630562" cy="1270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C05E0-0EA0-4F40-A8CD-48B9A80F0EA7}"/>
              </a:ext>
            </a:extLst>
          </p:cNvPr>
          <p:cNvSpPr txBox="1"/>
          <p:nvPr/>
        </p:nvSpPr>
        <p:spPr>
          <a:xfrm>
            <a:off x="2880045" y="492369"/>
            <a:ext cx="906247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kern="0" dirty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  <a:sym typeface="Fjalla One"/>
              </a:rPr>
              <a:t>Literature Review</a:t>
            </a:r>
            <a:r>
              <a:rPr lang="en-IN" sz="3500" b="1" kern="0" dirty="0">
                <a:solidFill>
                  <a:srgbClr val="191919"/>
                </a:solidFill>
                <a:latin typeface="Fjalla One"/>
                <a:sym typeface="Fjalla One"/>
              </a:rPr>
              <a:t> </a:t>
            </a:r>
            <a:endParaRPr 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3A84D9E-7FF1-4756-95B8-F77B74CD89C3}"/>
              </a:ext>
            </a:extLst>
          </p:cNvPr>
          <p:cNvSpPr txBox="1">
            <a:spLocks/>
          </p:cNvSpPr>
          <p:nvPr/>
        </p:nvSpPr>
        <p:spPr>
          <a:xfrm>
            <a:off x="457200" y="3911600"/>
            <a:ext cx="10748682" cy="2345954"/>
          </a:xfrm>
          <a:prstGeom prst="rect">
            <a:avLst/>
          </a:prstGeom>
        </p:spPr>
        <p:txBody>
          <a:bodyPr numCol="1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ea typeface="+mj-ea"/>
              <a:cs typeface="Aharoni" pitchFamily="2" charset="-79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B88BD-6992-42E2-8D9A-DC9FF806DF75}"/>
              </a:ext>
            </a:extLst>
          </p:cNvPr>
          <p:cNvSpPr txBox="1"/>
          <p:nvPr/>
        </p:nvSpPr>
        <p:spPr>
          <a:xfrm>
            <a:off x="2259106" y="6355981"/>
            <a:ext cx="69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 of Computer Science and Engineering(AIML/DS)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918CC-9798-4DBA-BBBF-98F50E9D0E9A}"/>
              </a:ext>
            </a:extLst>
          </p:cNvPr>
          <p:cNvSpPr/>
          <p:nvPr/>
        </p:nvSpPr>
        <p:spPr>
          <a:xfrm>
            <a:off x="11116235" y="6167718"/>
            <a:ext cx="564777" cy="3944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graphicFrame>
        <p:nvGraphicFramePr>
          <p:cNvPr id="9" name="Google Shape;509;p44">
            <a:extLst>
              <a:ext uri="{FF2B5EF4-FFF2-40B4-BE49-F238E27FC236}">
                <a16:creationId xmlns:a16="http://schemas.microsoft.com/office/drawing/2014/main" id="{BA0C5507-A7AD-5A93-D5BE-E8A4194608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1585645"/>
              </p:ext>
            </p:extLst>
          </p:nvPr>
        </p:nvGraphicFramePr>
        <p:xfrm>
          <a:off x="1138845" y="1379913"/>
          <a:ext cx="9559636" cy="494607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90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6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2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889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Modern Hopfield Networks and Attention for Long-Context QA</a:t>
                      </a:r>
                      <a:endParaRPr sz="2000" b="1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Old Standard T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Old Standard TT"/>
                        </a:rPr>
                        <a:t>LITERATURE REVIEW</a:t>
                      </a:r>
                      <a:endParaRPr sz="2200" b="1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Old Standard TT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10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Old Standard TT"/>
                        </a:rPr>
                        <a:t>AUTHORS</a:t>
                      </a:r>
                      <a:endParaRPr sz="2200" b="1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Old Standard T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Old Standard TT"/>
                        </a:rPr>
                        <a:t>METHODOLOGY</a:t>
                      </a:r>
                      <a:r>
                        <a:rPr lang="en" sz="2000" b="1" dirty="0">
                          <a:solidFill>
                            <a:schemeClr val="dk1"/>
                          </a:solidFill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 </a:t>
                      </a:r>
                      <a:endParaRPr sz="2000" b="1" dirty="0">
                        <a:solidFill>
                          <a:schemeClr val="dk1"/>
                        </a:solidFill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Confirmed that energy-based retrieval is significantly more robust against "noise" in queries and effectively solves the "lost-in-the-middle" problem in massive text documents</a:t>
                      </a:r>
                      <a:endParaRPr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Didact Gothic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74"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Didact Gothic"/>
                        <a:buChar char="●"/>
                      </a:pPr>
                      <a:r>
                        <a:rPr lang="en-IN" sz="1400" dirty="0"/>
                        <a:t>Bernhard </a:t>
                      </a:r>
                      <a:r>
                        <a:rPr lang="en-IN" sz="1400" dirty="0" err="1"/>
                        <a:t>Schafl</a:t>
                      </a:r>
                      <a:r>
                        <a:rPr lang="en-IN" sz="1400" dirty="0"/>
                        <a:t>, et al.</a:t>
                      </a:r>
                      <a:endParaRPr lang="en-IN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Evaluated the use of Modern Hopfield Layers as a replacement for standard RAG-based lookup systems. </a:t>
                      </a:r>
                      <a:endParaRPr sz="2200" b="1" dirty="0">
                        <a:solidFill>
                          <a:schemeClr val="dk1"/>
                        </a:solidFill>
                        <a:latin typeface="Didact Gothic" panose="00000500000000000000" pitchFamily="2" charset="0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0139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9CAEE-7EAC-4EC5-BCBF-97365B5E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2" y="206619"/>
            <a:ext cx="2630562" cy="1270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C05E0-0EA0-4F40-A8CD-48B9A80F0EA7}"/>
              </a:ext>
            </a:extLst>
          </p:cNvPr>
          <p:cNvSpPr txBox="1"/>
          <p:nvPr/>
        </p:nvSpPr>
        <p:spPr>
          <a:xfrm>
            <a:off x="2880044" y="606118"/>
            <a:ext cx="9062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Data Flow Diagram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3A84D9E-7FF1-4756-95B8-F77B74CD89C3}"/>
              </a:ext>
            </a:extLst>
          </p:cNvPr>
          <p:cNvSpPr txBox="1">
            <a:spLocks/>
          </p:cNvSpPr>
          <p:nvPr/>
        </p:nvSpPr>
        <p:spPr>
          <a:xfrm>
            <a:off x="457200" y="3911600"/>
            <a:ext cx="10748682" cy="2345954"/>
          </a:xfrm>
          <a:prstGeom prst="rect">
            <a:avLst/>
          </a:prstGeom>
        </p:spPr>
        <p:txBody>
          <a:bodyPr numCol="1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ea typeface="+mj-ea"/>
              <a:cs typeface="Aharoni" pitchFamily="2" charset="-79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B88BD-6992-42E2-8D9A-DC9FF806DF75}"/>
              </a:ext>
            </a:extLst>
          </p:cNvPr>
          <p:cNvSpPr txBox="1"/>
          <p:nvPr/>
        </p:nvSpPr>
        <p:spPr>
          <a:xfrm>
            <a:off x="2259106" y="6355981"/>
            <a:ext cx="69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 of Computer Science and Engineering(AIML/DS)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918CC-9798-4DBA-BBBF-98F50E9D0E9A}"/>
              </a:ext>
            </a:extLst>
          </p:cNvPr>
          <p:cNvSpPr/>
          <p:nvPr/>
        </p:nvSpPr>
        <p:spPr>
          <a:xfrm>
            <a:off x="11116235" y="6167718"/>
            <a:ext cx="564777" cy="3944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9218" name="AutoShape 2" descr="blob:https://web.whatsapp.com/77a28ef2-2414-491b-91c5-d9d9808731f9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20" name="AutoShape 4" descr="blob:https://web.whatsapp.com/77a28ef2-2414-491b-91c5-d9d9808731f9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60364B-E9D5-081C-D962-1D8C4AEF0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83" y="1477107"/>
            <a:ext cx="11116235" cy="40676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988101-2A64-82C9-657D-2D8BCD952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24911"/>
            <a:ext cx="12192000" cy="440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139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35BA3-1A8A-AEF3-ADB5-7B3392C77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85ABE4-D65E-CBE9-BE2F-0B2D2F1EE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2" y="206619"/>
            <a:ext cx="2630562" cy="1270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8BA790-259F-5C83-D865-3E729658DCEC}"/>
              </a:ext>
            </a:extLst>
          </p:cNvPr>
          <p:cNvSpPr txBox="1"/>
          <p:nvPr/>
        </p:nvSpPr>
        <p:spPr>
          <a:xfrm>
            <a:off x="2880044" y="606118"/>
            <a:ext cx="9062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System Architecture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2D1E7AC-E869-EE6F-4FD1-0234CB3C8B42}"/>
              </a:ext>
            </a:extLst>
          </p:cNvPr>
          <p:cNvSpPr txBox="1">
            <a:spLocks/>
          </p:cNvSpPr>
          <p:nvPr/>
        </p:nvSpPr>
        <p:spPr>
          <a:xfrm>
            <a:off x="457200" y="3911600"/>
            <a:ext cx="10748682" cy="2345954"/>
          </a:xfrm>
          <a:prstGeom prst="rect">
            <a:avLst/>
          </a:prstGeom>
        </p:spPr>
        <p:txBody>
          <a:bodyPr numCol="1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ea typeface="+mj-ea"/>
              <a:cs typeface="Aharoni" pitchFamily="2" charset="-79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4AD138-CE9A-5072-7A21-BF6BB5A94602}"/>
              </a:ext>
            </a:extLst>
          </p:cNvPr>
          <p:cNvSpPr txBox="1"/>
          <p:nvPr/>
        </p:nvSpPr>
        <p:spPr>
          <a:xfrm>
            <a:off x="2259106" y="6355981"/>
            <a:ext cx="69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 of Computer Science and Engineering(AIML/DS)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21BFF-0D4A-8C9D-61FB-01F4AC210D10}"/>
              </a:ext>
            </a:extLst>
          </p:cNvPr>
          <p:cNvSpPr/>
          <p:nvPr/>
        </p:nvSpPr>
        <p:spPr>
          <a:xfrm>
            <a:off x="11116235" y="6167718"/>
            <a:ext cx="564777" cy="3944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9218" name="AutoShape 2" descr="blob:https://web.whatsapp.com/77a28ef2-2414-491b-91c5-d9d9808731f9">
            <a:extLst>
              <a:ext uri="{FF2B5EF4-FFF2-40B4-BE49-F238E27FC236}">
                <a16:creationId xmlns:a16="http://schemas.microsoft.com/office/drawing/2014/main" id="{67FE8EA8-782F-E334-656D-18E2CA5FB9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20" name="AutoShape 4" descr="blob:https://web.whatsapp.com/77a28ef2-2414-491b-91c5-d9d9808731f9">
            <a:extLst>
              <a:ext uri="{FF2B5EF4-FFF2-40B4-BE49-F238E27FC236}">
                <a16:creationId xmlns:a16="http://schemas.microsoft.com/office/drawing/2014/main" id="{2D39C3F8-C0D7-E088-D90D-F31EC17817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90CB6F-B7F6-A38E-29B5-00AF47F24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79935"/>
            <a:ext cx="12192000" cy="169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53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9CAEE-7EAC-4EC5-BCBF-97365B5E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2" y="206619"/>
            <a:ext cx="2630562" cy="1270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C05E0-0EA0-4F40-A8CD-48B9A80F0EA7}"/>
              </a:ext>
            </a:extLst>
          </p:cNvPr>
          <p:cNvSpPr txBox="1"/>
          <p:nvPr/>
        </p:nvSpPr>
        <p:spPr>
          <a:xfrm>
            <a:off x="2880045" y="492369"/>
            <a:ext cx="9062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Technologies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7E33F-0771-4B29-9D52-6EEFB401E104}"/>
              </a:ext>
            </a:extLst>
          </p:cNvPr>
          <p:cNvSpPr txBox="1"/>
          <p:nvPr/>
        </p:nvSpPr>
        <p:spPr>
          <a:xfrm>
            <a:off x="1138518" y="1646395"/>
            <a:ext cx="96157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&amp; Monitoring Technologies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the rapid creation of an interactive web dashboard for users to input questions and visualize the model's output.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Acts as a high-performance bridge to expose your AI logic as an API, allowing other applications to communicate with your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LangSmith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Langfuse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dedicated "magnifying glass" to track LLM reasoning steps, monitor costs, and debug incorrect answers.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 (Command Line Interface):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 lightweight environment for developers to test code logic and run scripts without a graphical interface.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3A84D9E-7FF1-4756-95B8-F77B74CD89C3}"/>
              </a:ext>
            </a:extLst>
          </p:cNvPr>
          <p:cNvSpPr txBox="1">
            <a:spLocks/>
          </p:cNvSpPr>
          <p:nvPr/>
        </p:nvSpPr>
        <p:spPr>
          <a:xfrm>
            <a:off x="457200" y="3911600"/>
            <a:ext cx="10748682" cy="2345954"/>
          </a:xfrm>
          <a:prstGeom prst="rect">
            <a:avLst/>
          </a:prstGeom>
        </p:spPr>
        <p:txBody>
          <a:bodyPr numCol="1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ea typeface="+mj-ea"/>
              <a:cs typeface="Aharoni" pitchFamily="2" charset="-79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B88BD-6992-42E2-8D9A-DC9FF806DF75}"/>
              </a:ext>
            </a:extLst>
          </p:cNvPr>
          <p:cNvSpPr txBox="1"/>
          <p:nvPr/>
        </p:nvSpPr>
        <p:spPr>
          <a:xfrm>
            <a:off x="2259106" y="6355981"/>
            <a:ext cx="69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 of Computer Science and Engineering(AIML/DS)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918CC-9798-4DBA-BBBF-98F50E9D0E9A}"/>
              </a:ext>
            </a:extLst>
          </p:cNvPr>
          <p:cNvSpPr/>
          <p:nvPr/>
        </p:nvSpPr>
        <p:spPr>
          <a:xfrm>
            <a:off x="11116235" y="6167718"/>
            <a:ext cx="564777" cy="3944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80139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4C8D5-29D5-ACEC-4E20-EF001BEB6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42C228-3FEA-EB7A-3013-F59103001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2" y="206619"/>
            <a:ext cx="2630562" cy="1270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F9177C-D7A7-D380-BFBE-B2B33F9B2E59}"/>
              </a:ext>
            </a:extLst>
          </p:cNvPr>
          <p:cNvSpPr txBox="1"/>
          <p:nvPr/>
        </p:nvSpPr>
        <p:spPr>
          <a:xfrm>
            <a:off x="2880045" y="492369"/>
            <a:ext cx="9062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Technologies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6AEFCF-D6A2-5E9E-668B-3A89CF8B6404}"/>
              </a:ext>
            </a:extLst>
          </p:cNvPr>
          <p:cNvSpPr txBox="1"/>
          <p:nvPr/>
        </p:nvSpPr>
        <p:spPr>
          <a:xfrm>
            <a:off x="741680" y="1646395"/>
            <a:ext cx="11277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core programming language for system logic and AI integration.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engine for executing deep learning and Hopfield layer computations.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Hopfield-Layers: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associative memory to retrieve precise context from documents.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pre-trained models to convert text into numerical vectors.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(Llama/GPT):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reasoning engine that generates natural, human-like answers.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LlamaIndex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Orchestrates the data flow between retrieval and generation.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FAISS/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High-speed databases for storing and searching document embeddings.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CD2406D-4147-D770-6AF0-29A888023FE0}"/>
              </a:ext>
            </a:extLst>
          </p:cNvPr>
          <p:cNvSpPr txBox="1">
            <a:spLocks/>
          </p:cNvSpPr>
          <p:nvPr/>
        </p:nvSpPr>
        <p:spPr>
          <a:xfrm>
            <a:off x="457200" y="3911600"/>
            <a:ext cx="10748682" cy="2345954"/>
          </a:xfrm>
          <a:prstGeom prst="rect">
            <a:avLst/>
          </a:prstGeom>
        </p:spPr>
        <p:txBody>
          <a:bodyPr numCol="1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ea typeface="+mj-ea"/>
              <a:cs typeface="Aharoni" pitchFamily="2" charset="-79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7887C3-CD0E-1579-0DE7-329CDACB09AF}"/>
              </a:ext>
            </a:extLst>
          </p:cNvPr>
          <p:cNvSpPr txBox="1"/>
          <p:nvPr/>
        </p:nvSpPr>
        <p:spPr>
          <a:xfrm>
            <a:off x="2259106" y="6355981"/>
            <a:ext cx="69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 of Computer Science and Engineering(AIML/DS)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240C28-9E2A-E712-4A43-A3224E0AA12E}"/>
              </a:ext>
            </a:extLst>
          </p:cNvPr>
          <p:cNvSpPr/>
          <p:nvPr/>
        </p:nvSpPr>
        <p:spPr>
          <a:xfrm>
            <a:off x="11116235" y="6167718"/>
            <a:ext cx="564777" cy="3944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81424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FB348-BFF3-9791-F0CF-ABED02707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B75157-7D77-3BB2-EE6C-C91A38176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2" y="206619"/>
            <a:ext cx="2630562" cy="1270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197836-1F09-D3F7-9492-2BAE1FD20CE9}"/>
              </a:ext>
            </a:extLst>
          </p:cNvPr>
          <p:cNvSpPr txBox="1"/>
          <p:nvPr/>
        </p:nvSpPr>
        <p:spPr>
          <a:xfrm>
            <a:off x="2880045" y="492369"/>
            <a:ext cx="9062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Existing Technologies Survey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207B97-AAAB-3C0E-D86A-88D651AB20BB}"/>
              </a:ext>
            </a:extLst>
          </p:cNvPr>
          <p:cNvSpPr txBox="1"/>
          <p:nvPr/>
        </p:nvSpPr>
        <p:spPr>
          <a:xfrm>
            <a:off x="2259106" y="6355981"/>
            <a:ext cx="69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 of Computer Science and Engineering(AIML/DS)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518D2D-C170-D1E3-2B6D-A3EDC4FCC87D}"/>
              </a:ext>
            </a:extLst>
          </p:cNvPr>
          <p:cNvSpPr/>
          <p:nvPr/>
        </p:nvSpPr>
        <p:spPr>
          <a:xfrm>
            <a:off x="11116235" y="6167718"/>
            <a:ext cx="564777" cy="3944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IN" dirty="0"/>
              <a:t>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81531D-FDEF-6D6F-5000-53962FFED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517637"/>
              </p:ext>
            </p:extLst>
          </p:nvPr>
        </p:nvGraphicFramePr>
        <p:xfrm>
          <a:off x="838200" y="2385854"/>
          <a:ext cx="10515600" cy="32308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877266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124709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10844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Technology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Purpose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Limitation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526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FAISS</a:t>
                      </a: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(Facebook AI)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High-speed similarity search library.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Brittle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Purely mathematical (K-Nearest Neighbor) with no contextual "reasoning".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718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Pinecone</a:t>
                      </a: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 Milvus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Enterprise-managed vector storage.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Expensive &amp; Rigid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Requires massive memory and re-indexing every time data changes.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419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Standard RAG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Retrieval-Augmented Generation.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Hallucinations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 Often retrieves semantically similar but factually irrelevant text.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169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497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9CAEE-7EAC-4EC5-BCBF-97365B5E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2" y="206619"/>
            <a:ext cx="2630562" cy="1270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C05E0-0EA0-4F40-A8CD-48B9A80F0EA7}"/>
              </a:ext>
            </a:extLst>
          </p:cNvPr>
          <p:cNvSpPr txBox="1"/>
          <p:nvPr/>
        </p:nvSpPr>
        <p:spPr>
          <a:xfrm>
            <a:off x="2880045" y="492369"/>
            <a:ext cx="9062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Future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7E33F-0771-4B29-9D52-6EEFB401E104}"/>
              </a:ext>
            </a:extLst>
          </p:cNvPr>
          <p:cNvSpPr txBox="1"/>
          <p:nvPr/>
        </p:nvSpPr>
        <p:spPr>
          <a:xfrm>
            <a:off x="986118" y="1734280"/>
            <a:ext cx="1042087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Real-Time Online Learning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the Hopfield landscape to update "on-the-fly" as new information is ingested without retraining the entire model.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Browser-Based Research Assistant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Evolving the system into a browser extension for real-time verification and context retrieval from live web pages.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GraphRAG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 Hopfield memory with Knowledge Graphs to handle complex, multi-hop reasoning.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Semantic Caching: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previous query results in associative memory to reduce LLM costs and provide instant responses.</a:t>
            </a:r>
          </a:p>
          <a:p>
            <a:pPr>
              <a:buFont typeface="Arial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3A84D9E-7FF1-4756-95B8-F77B74CD89C3}"/>
              </a:ext>
            </a:extLst>
          </p:cNvPr>
          <p:cNvSpPr txBox="1">
            <a:spLocks/>
          </p:cNvSpPr>
          <p:nvPr/>
        </p:nvSpPr>
        <p:spPr>
          <a:xfrm>
            <a:off x="457200" y="3911600"/>
            <a:ext cx="10748682" cy="2345954"/>
          </a:xfrm>
          <a:prstGeom prst="rect">
            <a:avLst/>
          </a:prstGeom>
        </p:spPr>
        <p:txBody>
          <a:bodyPr numCol="1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ea typeface="+mj-ea"/>
              <a:cs typeface="Aharoni" pitchFamily="2" charset="-79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B88BD-6992-42E2-8D9A-DC9FF806DF75}"/>
              </a:ext>
            </a:extLst>
          </p:cNvPr>
          <p:cNvSpPr txBox="1"/>
          <p:nvPr/>
        </p:nvSpPr>
        <p:spPr>
          <a:xfrm>
            <a:off x="2259106" y="6355981"/>
            <a:ext cx="69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 of Computer Science and Engineering(AIML/DS)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918CC-9798-4DBA-BBBF-98F50E9D0E9A}"/>
              </a:ext>
            </a:extLst>
          </p:cNvPr>
          <p:cNvSpPr/>
          <p:nvPr/>
        </p:nvSpPr>
        <p:spPr>
          <a:xfrm>
            <a:off x="11116235" y="6167718"/>
            <a:ext cx="564777" cy="3944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80139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9CAEE-7EAC-4EC5-BCBF-97365B5E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82" y="206619"/>
            <a:ext cx="2630562" cy="1270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C05E0-0EA0-4F40-A8CD-48B9A80F0EA7}"/>
              </a:ext>
            </a:extLst>
          </p:cNvPr>
          <p:cNvSpPr txBox="1"/>
          <p:nvPr/>
        </p:nvSpPr>
        <p:spPr>
          <a:xfrm>
            <a:off x="2880045" y="492369"/>
            <a:ext cx="9062474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kern="0" dirty="0">
                <a:solidFill>
                  <a:srgbClr val="191919"/>
                </a:solidFill>
                <a:latin typeface="Times New Roman" pitchFamily="18" charset="0"/>
                <a:cs typeface="Times New Roman" pitchFamily="18" charset="0"/>
                <a:sym typeface="Fjalla One"/>
              </a:rPr>
              <a:t>Conclusion</a:t>
            </a:r>
            <a:r>
              <a:rPr lang="en-IN" sz="3500" b="1" kern="0" dirty="0">
                <a:solidFill>
                  <a:srgbClr val="191919"/>
                </a:solidFill>
                <a:latin typeface="Fjalla One"/>
                <a:sym typeface="Fjalla One"/>
              </a:rPr>
              <a:t> </a:t>
            </a:r>
            <a:endParaRPr 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7E33F-0771-4B29-9D52-6EEFB401E104}"/>
              </a:ext>
            </a:extLst>
          </p:cNvPr>
          <p:cNvSpPr txBox="1"/>
          <p:nvPr/>
        </p:nvSpPr>
        <p:spPr>
          <a:xfrm>
            <a:off x="672860" y="1737360"/>
            <a:ext cx="108175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bridges the gap between traditional Information Retrieval and modern Generative AI by utilizing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Hopfield Networks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high-precision associative memory. By integrating this specialized retrieval layer with the reasoning power of an LLM, the system moves beyond simple keyword matching to a sophisticated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(Retrieval-Augmented Generation)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architecture. This approach ensures that the model provides contextually accurate, human-like answers while significantly reducing hallucinations. Ultimately, this project demonstrates how advanced neural memory structures can optimize long-context processing, making AI interactions more reliable, scalable, and grounded in factual data.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3A84D9E-7FF1-4756-95B8-F77B74CD89C3}"/>
              </a:ext>
            </a:extLst>
          </p:cNvPr>
          <p:cNvSpPr txBox="1">
            <a:spLocks/>
          </p:cNvSpPr>
          <p:nvPr/>
        </p:nvSpPr>
        <p:spPr>
          <a:xfrm>
            <a:off x="457200" y="3911600"/>
            <a:ext cx="10748682" cy="2345954"/>
          </a:xfrm>
          <a:prstGeom prst="rect">
            <a:avLst/>
          </a:prstGeom>
        </p:spPr>
        <p:txBody>
          <a:bodyPr numCol="1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ea typeface="+mj-ea"/>
              <a:cs typeface="Aharoni" pitchFamily="2" charset="-79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CB88BD-6992-42E2-8D9A-DC9FF806DF75}"/>
              </a:ext>
            </a:extLst>
          </p:cNvPr>
          <p:cNvSpPr txBox="1"/>
          <p:nvPr/>
        </p:nvSpPr>
        <p:spPr>
          <a:xfrm>
            <a:off x="2259106" y="6355981"/>
            <a:ext cx="691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Department of Computer Science and Engineering(AIML/DS)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E918CC-9798-4DBA-BBBF-98F50E9D0E9A}"/>
              </a:ext>
            </a:extLst>
          </p:cNvPr>
          <p:cNvSpPr/>
          <p:nvPr/>
        </p:nvSpPr>
        <p:spPr>
          <a:xfrm>
            <a:off x="11116235" y="6167718"/>
            <a:ext cx="564777" cy="39444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08013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1094</Words>
  <Application>Microsoft Office PowerPoint</Application>
  <PresentationFormat>Widescreen</PresentationFormat>
  <Paragraphs>115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Calibri Light</vt:lpstr>
      <vt:lpstr>Didact Gothic</vt:lpstr>
      <vt:lpstr>Fjalla One</vt:lpstr>
      <vt:lpstr>Google Sans Text</vt:lpstr>
      <vt:lpstr>Lato</vt:lpstr>
      <vt:lpstr>Old Standard TT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Pratham Kadam</cp:lastModifiedBy>
  <cp:revision>21</cp:revision>
  <dcterms:created xsi:type="dcterms:W3CDTF">2025-03-07T08:08:52Z</dcterms:created>
  <dcterms:modified xsi:type="dcterms:W3CDTF">2026-04-23T16:46:56Z</dcterms:modified>
</cp:coreProperties>
</file>